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c7d4c61bfc4910" /><Relationship Type="http://schemas.openxmlformats.org/officeDocument/2006/relationships/extended-properties" Target="/docProps/app.xml" Id="R7614d08ff5ef4b9c" /><Relationship Type="http://schemas.openxmlformats.org/officeDocument/2006/relationships/officeDocument" Target="/ppt/presentation.xml" Id="R9f6e019b55e44d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e3ea9518aa43f8"/>
  </p:sldMasterIdLst>
  <p:notesMasterIdLst>
    <p:notesMasterId xmlns:r="http://schemas.openxmlformats.org/officeDocument/2006/relationships" r:id="Rb9da0e44a72a48ed"/>
  </p:notesMasterIdLst>
  <p:sldIdLst>
    <p:sldId xmlns:r="http://schemas.openxmlformats.org/officeDocument/2006/relationships" id="256" r:id="R6496289b24714d6c"/>
    <p:sldId xmlns:r="http://schemas.openxmlformats.org/officeDocument/2006/relationships" id="257" r:id="Rd435693588de464e"/>
    <p:sldId xmlns:r="http://schemas.openxmlformats.org/officeDocument/2006/relationships" id="258" r:id="R2204063574ff46a1"/>
    <p:sldId xmlns:r="http://schemas.openxmlformats.org/officeDocument/2006/relationships" id="259" r:id="R5215ce2826e742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3ea9518aa43f8" /><Relationship Type="http://schemas.openxmlformats.org/officeDocument/2006/relationships/theme" Target="/ppt/theme/theme1.xml" Id="R21021badb4414c2d" /><Relationship Type="http://schemas.openxmlformats.org/officeDocument/2006/relationships/notesMaster" Target="/ppt/notesMasters/notesMaster1.xml" Id="Rb9da0e44a72a48ed" /><Relationship Type="http://schemas.openxmlformats.org/officeDocument/2006/relationships/presProps" Target="/ppt/presProps.xml" Id="Rd617e23703934781" /><Relationship Type="http://schemas.openxmlformats.org/officeDocument/2006/relationships/viewProps" Target="/ppt/viewProps.xml" Id="Rf0417561a04c4319" /><Relationship Type="http://schemas.openxmlformats.org/officeDocument/2006/relationships/tableStyles" Target="/ppt/tableStyles.xml" Id="R83e98d1d6a9b4307" /><Relationship Type="http://schemas.openxmlformats.org/officeDocument/2006/relationships/slide" Target="/ppt/slides/slide1.xml" Id="R6496289b24714d6c" /><Relationship Type="http://schemas.openxmlformats.org/officeDocument/2006/relationships/slide" Target="/ppt/slides/slide2.xml" Id="Rd435693588de464e" /><Relationship Type="http://schemas.openxmlformats.org/officeDocument/2006/relationships/slide" Target="/ppt/slides/slide3.xml" Id="R2204063574ff46a1" /><Relationship Type="http://schemas.openxmlformats.org/officeDocument/2006/relationships/slide" Target="/ppt/slides/slide4.xml" Id="R5215ce2826e742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fa24e91d4247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9784655065451f" /><Relationship Type="http://schemas.openxmlformats.org/officeDocument/2006/relationships/notesMaster" Target="/ppt/notesMasters/notesMaster1.xml" Id="R8c4f8e90a7b04e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bb56d94c9d4454" /><Relationship Type="http://schemas.openxmlformats.org/officeDocument/2006/relationships/notesMaster" Target="/ppt/notesMasters/notesMaster1.xml" Id="R11294085c03e4c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999d7b11974bf0" /><Relationship Type="http://schemas.openxmlformats.org/officeDocument/2006/relationships/notesMaster" Target="/ppt/notesMasters/notesMaster1.xml" Id="Rd9a67dbe6a4e41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ef032219f94adc" /><Relationship Type="http://schemas.openxmlformats.org/officeDocument/2006/relationships/notesMaster" Target="/ppt/notesMasters/notesMaster1.xml" Id="R4fb39b3d062743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3523c1dd1432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7ce950f9c19401e" /><Relationship Type="http://schemas.openxmlformats.org/officeDocument/2006/relationships/slideLayout" Target="/ppt/slideLayouts/slideLayout2.xml" Id="R701a174764fa48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1a174764fa48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318211dd34a1e" /><Relationship Type="http://schemas.openxmlformats.org/officeDocument/2006/relationships/image" Target="/ppt/media/image.png" Id="R0ecf341bb37d4d20" /><Relationship Type="http://schemas.openxmlformats.org/officeDocument/2006/relationships/image" Target="/ppt/media/image2.png" Id="Rbc570f1daa894674" /><Relationship Type="http://schemas.openxmlformats.org/officeDocument/2006/relationships/image" Target="/ppt/media/image.svg" Id="R114ab7a1889d45af" /><Relationship Type="http://schemas.openxmlformats.org/officeDocument/2006/relationships/image" Target="/ppt/media/image3.png" Id="R89943ce131804a17" /><Relationship Type="http://schemas.openxmlformats.org/officeDocument/2006/relationships/image" Target="/ppt/media/image2.svg" Id="Ra03c71e4c26f42ff" /><Relationship Type="http://schemas.openxmlformats.org/officeDocument/2006/relationships/image" Target="/ppt/media/image4.png" Id="R1100e66832064f26" /><Relationship Type="http://schemas.openxmlformats.org/officeDocument/2006/relationships/image" Target="/ppt/media/image3.svg" Id="R39ea6733304040c7" /><Relationship Type="http://schemas.openxmlformats.org/officeDocument/2006/relationships/image" Target="/ppt/media/image5.png" Id="Rdd1713638de24400" /><Relationship Type="http://schemas.openxmlformats.org/officeDocument/2006/relationships/image" Target="/ppt/media/image4.svg" Id="R7fc3d15913f54b97" /><Relationship Type="http://schemas.openxmlformats.org/officeDocument/2006/relationships/notesSlide" Target="/ppt/notesSlides/notesSlide1.xml" Id="R035977b9a5614c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505bbb735647cb" /><Relationship Type="http://schemas.openxmlformats.org/officeDocument/2006/relationships/notesSlide" Target="/ppt/notesSlides/notesSlide2.xml" Id="R56aaffa0f2af44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bb9eeaa9ec406a" /><Relationship Type="http://schemas.openxmlformats.org/officeDocument/2006/relationships/image" Target="/ppt/media/image6.png" Id="Ra1f11f7e885045e3" /><Relationship Type="http://schemas.openxmlformats.org/officeDocument/2006/relationships/image" Target="/ppt/media/image5.svg" Id="R91a959f83cfd48e6" /><Relationship Type="http://schemas.openxmlformats.org/officeDocument/2006/relationships/image" Target="/ppt/media/image7.png" Id="R8ddb033a80544d65" /><Relationship Type="http://schemas.openxmlformats.org/officeDocument/2006/relationships/image" Target="/ppt/media/image6.svg" Id="R3e5ab7fed969497a" /><Relationship Type="http://schemas.openxmlformats.org/officeDocument/2006/relationships/image" Target="/ppt/media/image8.png" Id="Rf4cd158f13494733" /><Relationship Type="http://schemas.openxmlformats.org/officeDocument/2006/relationships/image" Target="/ppt/media/image7.svg" Id="R8a1c50c5821d496a" /><Relationship Type="http://schemas.openxmlformats.org/officeDocument/2006/relationships/notesSlide" Target="/ppt/notesSlides/notesSlide3.xml" Id="Re759293e4c2a47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f70e8feb8048e4" /><Relationship Type="http://schemas.openxmlformats.org/officeDocument/2006/relationships/notesSlide" Target="/ppt/notesSlides/notesSlide4.xml" Id="Rc304ded1a2a541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DFC8EC-3918-407F-BBB1-C1BD5295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C11EC-0522-49A9-80F4-94322D57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21EEA-6DE3-4AC7-A090-34F5458A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1051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BF3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f341bb37d4d20"/>
          <a:stretch xmlns:a="http://schemas.openxmlformats.org/drawingml/2006/main"/>
        </p:blipFill>
        <p:spPr>
          <a:xfrm xmlns:a="http://schemas.openxmlformats.org/drawingml/2006/main">
            <a:off x="1086832" y="695325"/>
            <a:ext cx="1922085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6FC00-68E0-4A0F-8A1F-2E31BEC9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BF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BF35"/>
                </a:solidFill>
                <a:latin typeface="Aptos"/>
                <a:ea typeface="Aptos"/>
                <a:cs typeface="Aptos"/>
              </a:rPr>
              <a:t>CUSTOMER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8D941-DEC3-49C1-9550-C610BF39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2686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NIST IAL2-aligned verification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8020A-496A-4DCA-A7B4-9A69C4FF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52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4E9E8-ED42-4048-93A6-A7507D57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704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AE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E27"/>
                </a:solidFill>
                <a:latin typeface="Aptos"/>
                <a:ea typeface="Aptos"/>
                <a:cs typeface="Aptos"/>
              </a:rPr>
              <a:t>SECURE IDENTITY VERIFICATION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7DD4C-9546-4ED1-AD09-5057706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066800"/>
            <a:ext cx="619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B1733"/>
                </a:solidFill>
                <a:latin typeface="Aptos Display"/>
                <a:ea typeface="Aptos Display"/>
                <a:cs typeface="Aptos Display"/>
              </a:rPr>
              <a:t>Passport eKYC for trusted digital onboarding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26E3A-125A-4187-A042-0F1B96E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581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LALIGENCE combines passport proofing, active liveness, hand gesture challenge, selfie matching, and explainable fraud signals in one guided customer journey.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7FBBF-33E6-4E31-A3DD-EAAB3A44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71850"/>
            <a:ext cx="2809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70f1daa894674">
            <a:extLst>
              <a:ext uri="{96DAC541-7B7A-43D3-8B79-37D633B846F1}">
                <asvg:svgBlip xmlns:asvg="http://schemas.microsoft.com/office/drawing/2016/SVG/main" r:embed="R114ab7a1889d45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00600" y="35909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03B9F-79C1-4E84-9E38-65A75743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14725"/>
            <a:ext cx="2066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Passport proofing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85675-9BA2-4CD0-A7C7-3851C944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52850"/>
            <a:ext cx="2066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OCR, MRZ, quality and document fraud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48062-5547-4503-8140-9E10BCF5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30003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43ce131804a17">
            <a:extLst>
              <a:ext uri="{96DAC541-7B7A-43D3-8B79-37D633B846F1}">
                <asvg:svgBlip xmlns:asvg="http://schemas.microsoft.com/office/drawing/2016/SVG/main" r:embed="Ra03c71e4c26f42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05750" y="35909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A0EFF-A854-4B5E-8B86-8D9CA6F6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14725"/>
            <a:ext cx="2257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Live face verification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A12D1-7E0C-4674-9217-8AAC477E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2257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Movement challenge, selfie match and passive liveness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71CFB-E553-4B4C-A308-217E8A68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19600"/>
            <a:ext cx="2809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0e66832064f26">
            <a:extLst>
              <a:ext uri="{96DAC541-7B7A-43D3-8B79-37D633B846F1}">
                <asvg:svgBlip xmlns:asvg="http://schemas.microsoft.com/office/drawing/2016/SVG/main" r:embed="R39ea6733304040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00600" y="46386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A2E03-36D1-4D1D-A740-7137C136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62475"/>
            <a:ext cx="2066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Returning Face 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1B445-A9FA-4D78-871B-C461C6AD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2066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Enroll once, then use face login for secure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2C29A-B8C7-4BC5-8A10-E18982A1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9600"/>
            <a:ext cx="30003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713638de24400">
            <a:extLst>
              <a:ext uri="{96DAC541-7B7A-43D3-8B79-37D633B846F1}">
                <asvg:svgBlip xmlns:asvg="http://schemas.microsoft.com/office/drawing/2016/SVG/main" r:embed="R7fc3d15913f54b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05750" y="46386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AC363-1879-4DE0-875D-81070CA0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62475"/>
            <a:ext cx="2257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Explainable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EA052-91BF-4CC0-B68A-CCA9FB5D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00600"/>
            <a:ext cx="2257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Pass, reject, or pending with reason codes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11453E-91B2-4B09-81F8-61FBC492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15000"/>
            <a:ext cx="609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62AACB-43C6-424D-B71C-E2837174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8864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Demo note: use sample or redacted documents only.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B952EE-A445-4DBF-8C57-DD5C37C5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78F"/>
                </a:solidFill>
                <a:latin typeface="Aptos"/>
                <a:ea typeface="Aptos"/>
                <a:cs typeface="Aptos"/>
              </a:rPr>
              <a:t>LALIGENCE eKYC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2E18A-A1B9-42EE-9912-3CBDDB50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484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D53B7D-B75D-4CC6-9782-5CD4D84C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98739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95D825-248E-4B65-ABBB-571D8AFD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CC1CD-424F-490A-8E97-40D5369D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59A34-FEAB-4521-A193-279FB9C7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AE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E27"/>
                </a:solidFill>
                <a:latin typeface="Aptos"/>
                <a:ea typeface="Aptos"/>
                <a:cs typeface="Aptos"/>
              </a:rPr>
              <a:t>END-TO-END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AA724-B7B1-4B31-A6A8-ECAB3507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733"/>
                </a:solidFill>
                <a:latin typeface="Aptos Display"/>
                <a:ea typeface="Aptos Display"/>
                <a:cs typeface="Aptos Display"/>
              </a:rPr>
              <a:t>A strict journey from evidence capture to Face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0C14C-0178-444D-AFF8-8CAC4334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Each stage unlocks only after required evidence passes, reducing drop-through risk from rejected or incomplete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A0768-018A-440C-A4E1-4A6813CE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238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AE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22D48-1B45-4313-AEB6-A5DECAFE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0AE30-9B92-4E89-9AC7-36377F9F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6949A-F62F-44DE-A5C3-CF977BCC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C3730-E689-482F-B4E1-F0BA560B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New user signup or returning 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9F663-FB3E-48C5-B30C-82247CD5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47950"/>
            <a:ext cx="1238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AE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BB64E-2017-49EA-B788-DE2637BF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F6E9C-EEA6-4B5A-9D9F-8A66F691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289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48855-6C82-4588-8E74-5992BD98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Passport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6C6F9-D743-4352-9673-1446A945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2420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Upload or camera 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E5AC8-6251-412A-BDE9-208B14D6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47950"/>
            <a:ext cx="1238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DF28A-6107-4EA4-84A7-5BAD4CC8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8F219-D359-4772-A63C-10ECC788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289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D4032-11FD-4DF9-8C84-C381BD8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Doc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55A37-EC88-4938-BDF3-8C0E0E26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2420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MRZ, OCR, quality, fraud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2E3ED-929F-4779-9711-D1555D4E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238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A7514A-323B-4CBB-AE2D-40369E4A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FA3A6-5B9D-4574-96E6-13A98991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289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CCB63-B546-4185-9AC1-1C8CB211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Liveness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486C0-C4AA-4701-882D-0E8B4A3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2420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Blink, turn, open mouth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874AE-5779-4E7E-82BA-C7311216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1238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63754B-3B90-482D-985C-3ABE945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0551F3-CDF9-4AD0-B51B-98934BC1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289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A7D31-1961-45F4-BADC-F8ED6F48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Gesture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ACE7D-C38B-4217-A739-02E3FE1B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3 random hand prompts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C81E0F-0013-4F54-B94E-F62CA0AC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1238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2AC1C8-A7CE-4827-B410-5082658A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837EFA-0791-40FE-8B18-F665DB1E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289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127D9D-EF83-4090-ADC5-CF65D354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Selfie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74C523-E49A-4933-905B-595A983D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Face match + passive PAD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3AD9A6-9411-4BF1-BDFD-7E9F0B49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1238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BFF57C-6CF1-47B1-AFA7-67F8BD28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69D54C-BA8E-4A00-A252-3923AECB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289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5384BC-B2B5-4129-A248-AF6A1794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622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E9AD3B-33D1-4DF7-A36B-648C6E37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2420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Pass, reject, pending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EDB96C-394C-4FB2-975D-E164FFB5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9562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E222ED-850A-48BD-A0E6-05ECAAF4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0CCD94-B22C-44A3-8B05-C4BB2FEA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9562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165074-5D1B-4AB3-91D5-D3B16B20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17BDB9-8F49-4CA1-A165-2E11B4BA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1CC2CD-6622-4BE2-B40E-8D33053F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091602-112C-4365-AC20-CD01B0B3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A33942-7DE2-446E-97B4-51A1F240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E1AA26-F29B-445F-9272-D533DE9F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9562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C85881-4A20-42D1-92B5-F04959F1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CF1486-5CCB-45F3-BB59-72EB049C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9562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54180C-90C8-43FC-B3DC-D01EC76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2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A99A7E-F0ED-4AF3-8626-E582952C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918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C6B8A7-9FB8-4173-8132-CAA158DF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386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After PASS: enroll Face ID profile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1D006C-7FBB-4D94-BB25-EC92D106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81550"/>
            <a:ext cx="5476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The backend stores one active face_id per user_id and one verified profile per passport number. Returning users can verify with face login for account access or Face Pay transfer.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819408-39D8-4CE9-9794-27468E05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2362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B8E1C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0D619C-615B-4B20-BA0E-DA90E421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7A5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7A58"/>
                </a:solidFill>
                <a:latin typeface="Aptos"/>
                <a:ea typeface="Aptos"/>
                <a:cs typeface="Aptos"/>
              </a:rPr>
              <a:t>Returning user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D9AC30-1836-4447-9E31-F93538B4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863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Face Login / Face Pay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94BC06-4676-4055-85AB-FF451581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78F"/>
                </a:solidFill>
                <a:latin typeface="Aptos"/>
                <a:ea typeface="Aptos"/>
                <a:cs typeface="Aptos"/>
              </a:rPr>
              <a:t>LALIGENCE eKYC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7549D0-2211-48E7-BBD2-81FA1459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484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D4301D-3218-45E1-B437-FF58427E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82999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7D70A7-7631-457C-9C51-F594A63B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54134-A284-471E-B593-240522C3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00CF5-2C72-494D-B891-4291445D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AE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E27"/>
                </a:solidFill>
                <a:latin typeface="Aptos"/>
                <a:ea typeface="Aptos"/>
                <a:cs typeface="Aptos"/>
              </a:rPr>
              <a:t>SECURITY AND FRAUD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B3971-ABB2-4B1D-9BBD-CAB26A9B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733"/>
                </a:solidFill>
                <a:latin typeface="Aptos Display"/>
                <a:ea typeface="Aptos Display"/>
                <a:cs typeface="Aptos Display"/>
              </a:rPr>
              <a:t>Layered controls catch risk at each evidence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03232-387D-46C6-BF7F-732E001D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47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The system does not rely on one model. It combines document checks, active challenge evidence, passive anti-spoofing, and face comparison with explainable reason codes.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A0187-7D00-4A4F-9971-0CFBFAB9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33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D004F-2FED-4768-95FF-007C37A4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E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11f7e885045e3">
            <a:extLst>
              <a:ext uri="{96DAC541-7B7A-43D3-8B79-37D633B846F1}">
                <asvg:svgBlip xmlns:asvg="http://schemas.microsoft.com/office/drawing/2016/SVG/main" r:embed="R91a959f83cfd48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667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F8886-CA04-49CB-A54E-C71B3424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Uploading 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8B83F-4FCF-4A4D-9D68-416FC6D3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Passport image is analyzed before the user can continue to liveness.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DF85B-FCC2-4850-B5C1-504E8489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E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509F2-EB93-49EC-9040-2DF37807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Document type and upload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A4082-7477-4A4C-A012-F0086014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E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CE8AA-0A28-46CA-AF85-8D630B2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OCR/MRZ validity and expiry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E9468-CFE6-4B34-A60B-037A1E8B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E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D123D-EB74-4E48-B602-94DD2C51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Blur, glare, contrast and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8FA09-D87C-4759-A20B-299B763C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E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386B1-E900-412E-8F4D-D2EC049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Tamper, recapture and portrait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BED31-32D4-4C57-B8F1-1E0246D4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62200"/>
            <a:ext cx="3333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88E43-0702-4DAD-9DBD-0B9B37ED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622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b033a80544d65">
            <a:extLst>
              <a:ext uri="{96DAC541-7B7A-43D3-8B79-37D633B846F1}">
                <asvg:svgBlip xmlns:asvg="http://schemas.microsoft.com/office/drawing/2016/SVG/main" r:embed="R3e5ab7fed96949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57725" y="2667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2A7F6-AA6B-4469-929E-5FFFF1CF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289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Active liveness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6F1AA-50EF-4EEA-AE8F-9510EA48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813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User performs randomized movements while the backend validates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C90E1-4114-4DBE-ADEB-FC74A9A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14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E4A46-D9AF-420E-B931-C568493A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8862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Blink, turn left/right, open mouth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1C71F8-0C48-47F8-9B1C-458AE4FF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C4C592-1E5E-4B69-BCF0-6A57995E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2481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One usable face required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4F25A-6FBA-460B-8F1D-4AF17511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386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7B2A76-BEB4-4D53-896B-FEF5F497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6101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Server-side evidence check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F09096-46ED-4DFC-B904-D8EC0DD5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006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501E48-1DED-4CF6-A8F2-C5FE4021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972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Replay and multiple-face signals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D02CBA-B6E9-43E3-B9E7-53966A2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333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F70F3-FAF4-415E-BDD7-13A24E86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d158f13494733">
            <a:extLst>
              <a:ext uri="{96DAC541-7B7A-43D3-8B79-37D633B846F1}">
                <asvg:svgBlip xmlns:asvg="http://schemas.microsoft.com/office/drawing/2016/SVG/main" r:embed="R8a1c50c5821d49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01050" y="2667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77C240-8640-4ADB-ABAF-2DD56B2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Passive liveness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01F1B8-974F-46C0-AAA8-B1BC8E0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Selfie and login frames are checked for screen, photo, and replay attacks.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D37706-5024-4278-8508-8E197C0E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14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8BDD9A-04FD-4B06-9A01-5D59C92A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ONNX passive anti-spoofing model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357B87-8F66-4527-8C55-BAA746B9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76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0A0032-4150-43FF-89E3-F06F996C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Phone/screen frame heuristics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C6EAD1-E32C-47FD-ADB2-51F985EA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386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5DF327-1CC7-4543-9674-67FADF1F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101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Selfie quality and face confidence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95CB48-2076-483A-BE4C-4AC814C6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006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00056E-6DF2-4F39-974B-F7BFB2DD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72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0B1733"/>
                </a:solidFill>
                <a:latin typeface="Aptos"/>
                <a:ea typeface="Aptos"/>
                <a:cs typeface="Aptos"/>
              </a:rPr>
              <a:t>Face match against passport portrait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886886-903B-4268-8269-C5D7F0BE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78F"/>
                </a:solidFill>
                <a:latin typeface="Aptos"/>
                <a:ea typeface="Aptos"/>
                <a:cs typeface="Aptos"/>
              </a:rPr>
              <a:t>LALIGENCE eKYC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D4DCC7-3B70-40DF-9338-0A02CFD0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484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35A52D-A0B9-4CF1-9B70-9545A138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20865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C33431-9071-445B-9D70-92055FE8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01DCA-90B9-4975-BE58-BA83FCA4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CEE6F-7395-4638-83B1-CACA8789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AE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E27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69D44-90AD-471C-9CA0-18B30425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733"/>
                </a:solidFill>
                <a:latin typeface="Aptos Display"/>
                <a:ea typeface="Aptos Display"/>
                <a:cs typeface="Aptos Display"/>
              </a:rPr>
              <a:t>The output is an explainable decision, not a black box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E74CB-E0E7-4C83-A0EE-9D9436B1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Reviewers and product teams can see what passed, what failed, and which reason codes drove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AB79A-3AB0-4C54-8627-A26FFC21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0005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0816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0E8C3-BFC7-42E3-B0E0-1C1C5094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BF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BF35"/>
                </a:solidFill>
                <a:latin typeface="Aptos"/>
                <a:ea typeface="Aptos"/>
                <a:cs typeface="Aptos"/>
              </a:rPr>
              <a:t>FINAL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8B67C-A5E0-4C19-9C03-A073B85B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D2DE0-22C1-438B-8F2C-059C3095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6FB"/>
                </a:solidFill>
                <a:latin typeface="Aptos"/>
                <a:ea typeface="Aptos"/>
                <a:cs typeface="Aptos"/>
              </a:rPr>
              <a:t>All required checks completed. Face ID enrollment is available for returning login and Face Pay transfer.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3575C-166B-4059-A0A1-B5D55C10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6A3E0-7B84-46DB-BB6D-376C841B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Enroll Face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ADED9-B6E9-4805-90E2-D997656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14600"/>
            <a:ext cx="31242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D106A-D15B-4E0A-BE1F-0BCEAFA1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19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Live decision scores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CDC0C-351D-459E-92D1-E3FA201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194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Document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F8540-72C0-4F6E-A7A2-B7FCFB2B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194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97A5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7A58"/>
                </a:solidFill>
                <a:latin typeface="Aptos"/>
                <a:ea typeface="Aptos"/>
                <a:cs typeface="Aptos"/>
              </a:rPr>
              <a:t>94%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1C339-8B7E-4F60-BAE0-14B9281E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05200"/>
            <a:ext cx="26098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B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121BF-BBFC-4AC5-A38F-9369345C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05200"/>
            <a:ext cx="2453259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29453-E67B-4BCB-B5D1-46DAC418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909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Document fraud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E110B-B9AD-4ED0-B3C1-9693D988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909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97A5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7A58"/>
                </a:solidFill>
                <a:latin typeface="Aptos"/>
                <a:ea typeface="Aptos"/>
                <a:cs typeface="Aptos"/>
              </a:rPr>
              <a:t>12%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9C5EE-D978-4CD9-BC1F-6E0DD4C6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76700"/>
            <a:ext cx="26098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B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BC996-6890-440B-8AEA-AA2C5AB1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76700"/>
            <a:ext cx="313182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39C60-7BC7-4ECB-B66A-A7BDE4DD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624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Face match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60AF3-095D-4311-8D2F-07F4CA77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624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97A5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7A58"/>
                </a:solidFill>
                <a:latin typeface="Aptos"/>
                <a:ea typeface="Aptos"/>
                <a:cs typeface="Aptos"/>
              </a:rPr>
              <a:t>88%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CD851-3AAE-4180-8FD3-899BBE66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48200"/>
            <a:ext cx="26098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B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CDE3C-91AC-49A0-ACB7-155A23DB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48200"/>
            <a:ext cx="2296668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A05DA5-A20C-4482-9A5B-E7DE374D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339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Passive risk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395E5-77C9-49F3-9489-36FAE5C8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339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97A5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7A58"/>
                </a:solidFill>
                <a:latin typeface="Aptos"/>
                <a:ea typeface="Aptos"/>
                <a:cs typeface="Aptos"/>
              </a:rPr>
              <a:t>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F94DA-16B8-455E-B7AE-E1C2E102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19700"/>
            <a:ext cx="26098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B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4E96C1-BB89-4FD8-A6DA-EE25CA06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19700"/>
            <a:ext cx="18269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21AC3E-7DB6-4E39-B5E7-952B76E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8575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5FC448-1BBF-4873-99EF-ED4C02D8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1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733"/>
                </a:solidFill>
                <a:latin typeface="Aptos"/>
                <a:ea typeface="Aptos"/>
                <a:cs typeface="Aptos"/>
              </a:rPr>
              <a:t>Reason codes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428EB0-FFB5-44B0-8C56-23A20519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1C8D4-A111-4E99-95A8-5A79C6DB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7A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7A58"/>
                </a:solidFill>
                <a:latin typeface="Aptos"/>
                <a:ea typeface="Aptos"/>
                <a:cs typeface="Aptos"/>
              </a:rPr>
              <a:t>PASSPORT_OCR_VALID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FBB960-2D0B-490D-B3B5-A3C9521D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209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9E1E53-1F02-40FE-AB14-7EEEDED6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7A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7A58"/>
                </a:solidFill>
                <a:latin typeface="Aptos"/>
                <a:ea typeface="Aptos"/>
                <a:cs typeface="Aptos"/>
              </a:rPr>
              <a:t>ACTIVE_LIVENESS_PASSED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F8312B-D0D8-42F0-A064-4D525089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148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ECEC06-EE19-4478-B386-19B44F9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910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7A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7A58"/>
                </a:solidFill>
                <a:latin typeface="Aptos"/>
                <a:ea typeface="Aptos"/>
                <a:cs typeface="Aptos"/>
              </a:rPr>
              <a:t>HAND_GESTURE_PASSED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FF0226-04FA-4078-ACD9-5D9DE12E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5295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9E1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E0645E-37CF-49C1-A76C-116953AA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7A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7A58"/>
                </a:solidFill>
                <a:latin typeface="Aptos"/>
                <a:ea typeface="Aptos"/>
                <a:cs typeface="Aptos"/>
              </a:rPr>
              <a:t>SELFIE_MATCH_PASSED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55B220-227B-40C3-A6E6-8521C0E3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8420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If rejected, the same area shows high-risk reason codes such as MRZ_NOT_READ, DOCUMENT_FACE_NOT_FOUND, PASSIVE_SPOOF_RISK_HIGH, or FACE_MATCH_LOW.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4FEA5A-E577-48E1-ADAA-8B07C995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78F"/>
                </a:solidFill>
                <a:latin typeface="Aptos"/>
                <a:ea typeface="Aptos"/>
                <a:cs typeface="Aptos"/>
              </a:rPr>
              <a:t>LALIGENCE eKYC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328C4A-8EA2-4F9E-A13F-87FB8767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484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0C9870-9EF4-4095-BC0E-9ED48321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7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78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54610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2026-05-14T15:54:30.9430000Z</dcterms:created>
  <dcterms:modified xsi:type="dcterms:W3CDTF">2026-05-14T15:54:30.9430000Z</dcterms:modified>
</coreProperties>
</file>