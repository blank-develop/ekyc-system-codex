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3fd13fd9b2ec4ae1"/><Relationship Type="http://schemas.openxmlformats.org/officeDocument/2006/relationships/extended-properties" Target="/docProps/app.xml" Id="R684d72aeadb44cc4"/><Relationship Type="http://schemas.openxmlformats.org/officeDocument/2006/relationships/officeDocument" Target="/ppt/presentation.xml" Id="R7914589e70ab4b0a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005b30a67e4052"/>
  </p:sldMasterIdLst>
  <p:notesMasterIdLst>
    <p:notesMasterId xmlns:r="http://schemas.openxmlformats.org/officeDocument/2006/relationships" r:id="Rfc89a11499344c41"/>
  </p:notesMasterIdLst>
  <p:sldIdLst>
    <p:sldId xmlns:r="http://schemas.openxmlformats.org/officeDocument/2006/relationships" id="300" r:id="Rslide5"/>
    <p:sldId xmlns:r="http://schemas.openxmlformats.org/officeDocument/2006/relationships" id="256" r:id="R46a054108eaf42bb"/>
    <p:sldId xmlns:r="http://schemas.openxmlformats.org/officeDocument/2006/relationships" id="257" r:id="R45864d47387c498b"/>
    <p:sldId xmlns:r="http://schemas.openxmlformats.org/officeDocument/2006/relationships" id="301" r:id="Rslide3"/>
    <p:sldId xmlns:r="http://schemas.openxmlformats.org/officeDocument/2006/relationships" id="302" r:id="Rslide4"/>
    <p:sldId xmlns:r="http://schemas.openxmlformats.org/officeDocument/2006/relationships" id="303" r:id="Rslide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be949ca9a9a34a25"/><Relationship Type="http://schemas.openxmlformats.org/officeDocument/2006/relationships/slideMaster" Target="/ppt/slideMasters/slideMaster1.xml" Id="R54005b30a67e4052"/><Relationship Type="http://schemas.openxmlformats.org/officeDocument/2006/relationships/notesMaster" Target="/ppt/notesMasters/notesMaster1.xml" Id="Rfc89a11499344c41"/><Relationship Type="http://schemas.openxmlformats.org/officeDocument/2006/relationships/presProps" Target="/ppt/presProps.xml" Id="Rb0d28630371b49e0"/><Relationship Type="http://schemas.openxmlformats.org/officeDocument/2006/relationships/viewProps" Target="/ppt/viewProps.xml" Id="R1ca2e8e7b1044d54"/><Relationship Type="http://schemas.openxmlformats.org/officeDocument/2006/relationships/tableStyles" Target="/ppt/tableStyles.xml" Id="R1b906708598f4fae"/><Relationship Type="http://schemas.openxmlformats.org/officeDocument/2006/relationships/slide" Target="/ppt/slides/slide1.xml" Id="R46a054108eaf42bb"/><Relationship Type="http://schemas.openxmlformats.org/officeDocument/2006/relationships/slide" Target="/ppt/slides/slide2.xml" Id="R45864d47387c498b"/><Relationship Type="http://schemas.openxmlformats.org/officeDocument/2006/relationships/slide" Target="/ppt/slides/slide3.xml" Id="Rslide3"/><Relationship Type="http://schemas.openxmlformats.org/officeDocument/2006/relationships/slide" Target="/ppt/slides/slide4.xml" Id="Rslide4"/><Relationship Type="http://schemas.openxmlformats.org/officeDocument/2006/relationships/slide" Target="/ppt/slides/slide5.xml" Id="Rslide5"/><Relationship Type="http://schemas.openxmlformats.org/officeDocument/2006/relationships/slide" Target="/ppt/slides/slide6.xml" Id="Rslide6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7801fd6f76c84577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d9121c7835aa4ac1"/><Relationship Type="http://schemas.openxmlformats.org/officeDocument/2006/relationships/notesMaster" Target="/ppt/notesMasters/notesMaster1.xml" Id="R362fc17bf0904dbd"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ed2fe83db08c4be9"/><Relationship Type="http://schemas.openxmlformats.org/officeDocument/2006/relationships/notesMaster" Target="/ppt/notesMasters/notesMaster1.xml" Id="R9e18cce17050404a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f4ee5679294c469d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1d02327c2cf747e4"/><Relationship Type="http://schemas.openxmlformats.org/officeDocument/2006/relationships/slideLayout" Target="/ppt/slideLayouts/slideLayout1.xml" Id="R8d2896bb2b3a40e6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2896bb2b3a40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5115124b431483c"/><Relationship Type="http://schemas.openxmlformats.org/officeDocument/2006/relationships/image" Target="/ppt/media/image.png" Id="R17005f94e7bb42b8"/><Relationship Type="http://schemas.openxmlformats.org/officeDocument/2006/relationships/image" Target="/ppt/media/image2.png" Id="R043ae14b4f29403a"/><Relationship Type="http://schemas.openxmlformats.org/officeDocument/2006/relationships/image" Target="/ppt/media/image.svg" Id="R9abb3f25db374401"/><Relationship Type="http://schemas.openxmlformats.org/officeDocument/2006/relationships/image" Target="/ppt/media/image3.png" Id="R05027f7784c646f4"/><Relationship Type="http://schemas.openxmlformats.org/officeDocument/2006/relationships/image" Target="/ppt/media/image2.svg" Id="R99d4a32c2e574a32"/><Relationship Type="http://schemas.openxmlformats.org/officeDocument/2006/relationships/image" Target="/ppt/media/image4.png" Id="Re13e33740a8a4072"/><Relationship Type="http://schemas.openxmlformats.org/officeDocument/2006/relationships/image" Target="/ppt/media/image3.svg" Id="R572b6f754b8e46f7"/><Relationship Type="http://schemas.openxmlformats.org/officeDocument/2006/relationships/notesSlide" Target="/ppt/notesSlides/notesSlide1.xml" Id="Ra71c6eb514224136"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663aa0dbfe74571"/><Relationship Type="http://schemas.openxmlformats.org/officeDocument/2006/relationships/image" Target="/ppt/media/image5.png" Id="R65d97bfc5aff42de"/><Relationship Type="http://schemas.openxmlformats.org/officeDocument/2006/relationships/notesSlide" Target="/ppt/notesSlides/notesSlide2.xml" Id="R0661f2d3b29a4441"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2cd70d8da1a4c36"/><Relationship Type="http://schemas.openxmlformats.org/officeDocument/2006/relationships/image" Target="/ppt/media/s_image.png" Id="Rb1258591bd5040bf"/><Relationship Type="http://schemas.openxmlformats.org/officeDocument/2006/relationships/image" Target="/ppt/media/s_image2.png" Id="R71d7fdd8a6c047f7"/><Relationship Type="http://schemas.openxmlformats.org/officeDocument/2006/relationships/image" Target="/ppt/media/s_image.svg" Id="Re60bebb2f67d4baa"/><Relationship Type="http://schemas.openxmlformats.org/officeDocument/2006/relationships/image" Target="/ppt/media/s_image3.png" Id="R2c3780c89642418d"/><Relationship Type="http://schemas.openxmlformats.org/officeDocument/2006/relationships/image" Target="/ppt/media/s_image2.svg" Id="R65a18ac485294338"/><Relationship Type="http://schemas.openxmlformats.org/officeDocument/2006/relationships/image" Target="/ppt/media/s_image4.png" Id="Rf90e5b0646c541dc"/><Relationship Type="http://schemas.openxmlformats.org/officeDocument/2006/relationships/image" Target="/ppt/media/s_image3.svg" Id="Rab9f881edd4d49e2"/><Relationship Type="http://schemas.openxmlformats.org/officeDocument/2006/relationships/image" Target="/ppt/media/s_image5.png" Id="R19ac7bde49fc4af7"/><Relationship Type="http://schemas.openxmlformats.org/officeDocument/2006/relationships/image" Target="/ppt/media/s_image4.svg" Id="Rf8dab0755923469d"/><Relationship Type="http://schemas.openxmlformats.org/officeDocument/2006/relationships/image" Target="/ppt/media/s_image6.png" Id="R4c94b391e65348f4"/><Relationship Type="http://schemas.openxmlformats.org/officeDocument/2006/relationships/image" Target="/ppt/media/s_image5.svg" Id="Ra20bca22fe74449b"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b74830fc78c4167"/><Relationship Type="http://schemas.openxmlformats.org/officeDocument/2006/relationships/image" Target="/ppt/media/s_image7.png" Id="Ra845a42351e84331"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lay01"/><Relationship Type="http://schemas.openxmlformats.org/officeDocument/2006/relationships/image" Target="/ppt/media/logo.png" Id="Rlogo01"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lay01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79896A-95E5-4E23-ACA8-56CD4F84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F6F8FC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05f94e7bb42b8"/>
          <a:stretch xmlns:a="http://schemas.openxmlformats.org/drawingml/2006/main"/>
        </p:blipFill>
        <p:spPr>
          <a:xfrm xmlns:a="http://schemas.openxmlformats.org/drawingml/2006/main">
            <a:off x="609600" y="344085"/>
            <a:ext cx="1104900" cy="10263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C133E-74E7-4F5B-96A9-2A3A0B86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33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71B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57A20-1D13-4736-8779-F702027C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10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The core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A6B22-47E1-45C1-8C8C-3F81CE1D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429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Identity verification forces a hard trade-off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57503-A2BD-40DC-ACB6-B57598D0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85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Businesses want fast onboarding, but every shortcut can increase fraud, compliance risk, or manual review cost.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2D041-A019-4AE0-B05F-2A5820AF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9191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A2A29-1D04-49E9-904B-1FFD7D2B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6A5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ae14b4f29403a">
            <a:extLst>
              <a:ext uri="{96DAC541-7B7A-43D3-8B79-37D633B846F1}">
                <asvg:svgBlip xmlns:asvg="http://schemas.microsoft.com/office/drawing/2016/SVG/main" r:embed="R9abb3f25db3744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3867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D2965-2C52-4098-88F0-834F7447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Speed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4E7E6-B6CC-497F-B31F-CB27D44F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8577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Long KYC flow creates drop-off before signup is complete.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B797D-F756-4A7D-A6DC-B226DED8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95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B4B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27f7784c646f4">
            <a:extLst>
              <a:ext uri="{96DAC541-7B7A-43D3-8B79-37D633B846F1}">
                <asvg:svgBlip xmlns:asvg="http://schemas.microsoft.com/office/drawing/2016/SVG/main" r:embed="R99d4a32c2e574a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0" y="3867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545A0-2E68-4263-86F1-29797D5D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58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B7081A-C03A-4093-820A-B31104AC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577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Fake IDs, edited documents, and replay attacks are hard to catch.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66BF6-0991-465D-9757-753AD4C2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95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AA2A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e33740a8a4072">
            <a:extLst>
              <a:ext uri="{96DAC541-7B7A-43D3-8B79-37D633B846F1}">
                <asvg:svgBlip xmlns:asvg="http://schemas.microsoft.com/office/drawing/2016/SVG/main" r:embed="R572b6f754b8e46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0" y="3867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6451A-ADC6-45BF-BEFA-4FCAA91D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958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56BF6-583B-4CA1-BE38-514F3A15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577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Teams need clear evidence for review, audit, and compliance.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9F869-2609-442E-B770-4BD10454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66875"/>
            <a:ext cx="2495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0661B-5562-4044-9BF7-1B8612B8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AA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AA2A"/>
                </a:solidFill>
                <a:latin typeface="Aptos"/>
                <a:ea typeface="Aptos"/>
                <a:cs typeface="Aptos"/>
              </a:rPr>
              <a:t>Pain point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B20821-0AA7-4909-9AB7-9AFDBD97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38375"/>
            <a:ext cx="2038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Manual KYC is slow. Basic digital KYC is easy to attack.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2B54AB-A03F-4224-A629-0080280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0CA103-FB47-4AE3-9214-58CF8028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Kyron eKYC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26C214-FB23-454D-B2D0-128335BE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Pain point</a:t>
            </a:r>
          </a:p>
        </p:txBody>
      </p:sp>
    </p:spTree>
    <p:extLst>
      <p:ext uri="{BB962C8B-B14F-4D97-AF65-F5344CB8AC3E}">
        <p14:creationId xmlns:p14="http://schemas.microsoft.com/office/powerpoint/2010/main" val="8975481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390C40-6CBC-4558-9329-0A74C44B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97bfc5aff42de"/>
          <a:stretch xmlns:a="http://schemas.openxmlformats.org/drawingml/2006/main"/>
        </p:blipFill>
        <p:spPr>
          <a:xfrm xmlns:a="http://schemas.openxmlformats.org/drawingml/2006/main">
            <a:off x="630291" y="342900"/>
            <a:ext cx="1025419" cy="95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75667-15FC-4FD8-B536-104D0E88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Where the pain shows 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6E4E3-5998-4255-96FA-CA8EBD23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Keep the story simple: the problem affects users, operations, and risk teams at the same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76BEE-980E-48B1-8E7C-C57E83A9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575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5BF9E-234E-4CE0-AB68-CA94E210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User pain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55097-CB7B-41FC-BF89-93757E06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432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A5"/>
          </a:solidFill>
          <a:ln xmlns:a="http://schemas.openxmlformats.org/drawingml/2006/main" w="0">
            <a:solidFill>
              <a:srgbClr val="16A6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66017-00D0-4C67-B914-C5B499FA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24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A5"/>
          </a:solidFill>
          <a:ln xmlns:a="http://schemas.openxmlformats.org/drawingml/2006/main" w="0">
            <a:solidFill>
              <a:srgbClr val="16A6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4914F-F420-4A92-B7D0-C7E1C459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575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Too many steps before account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1E2F5-63C9-4AC2-9B06-1625B4BF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33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A5"/>
          </a:solidFill>
          <a:ln xmlns:a="http://schemas.openxmlformats.org/drawingml/2006/main" w="0">
            <a:solidFill>
              <a:srgbClr val="16A6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DF94A-4572-499C-91F8-853790F5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671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Camera and document capture feel confusing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1EB3D-8337-4307-ADAC-BFD9BE71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43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A5"/>
          </a:solidFill>
          <a:ln xmlns:a="http://schemas.openxmlformats.org/drawingml/2006/main" w="0">
            <a:solidFill>
              <a:srgbClr val="16A6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F5DA3-4AC9-4893-956E-423D0927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767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Repeated rejection without clear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1A243-5A9F-4164-82D9-B01DCD12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190750"/>
            <a:ext cx="32575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E60C7-EB81-4236-A417-E7C887D6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146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Business pain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8A750-8E13-4CCC-8C1F-15AA38E9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432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A2A"/>
          </a:solidFill>
          <a:ln xmlns:a="http://schemas.openxmlformats.org/drawingml/2006/main" w="0">
            <a:solidFill>
              <a:srgbClr val="D9A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89E1F-9DF5-4F47-AF0F-F611580A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24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A2A"/>
          </a:solidFill>
          <a:ln xmlns:a="http://schemas.openxmlformats.org/drawingml/2006/main" w="0">
            <a:solidFill>
              <a:srgbClr val="D9A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A5A44-CEF4-4CEA-9CE6-31629BCB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575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Manual review slows growth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EBDED-EDD7-48F7-BE4F-F9C5789D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33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A2A"/>
          </a:solidFill>
          <a:ln xmlns:a="http://schemas.openxmlformats.org/drawingml/2006/main" w="0">
            <a:solidFill>
              <a:srgbClr val="D9AA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C5907-77A3-431C-9F22-D43D79BA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8671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Support teams handle avoidable failures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46773-8B8F-4BBD-9ED1-DF4923AF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43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A2A"/>
          </a:solidFill>
          <a:ln xmlns:a="http://schemas.openxmlformats.org/drawingml/2006/main" w="0">
            <a:solidFill>
              <a:srgbClr val="D9AA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733C5-9350-478B-8B7B-D8AD5B2F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4767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Incomplete onboarding reduces conversion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05F372-15F5-4F4A-90B2-B54809A4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575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D3B150-085D-4E72-A629-1A673D05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Risk pain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80D57-B045-41BE-AEAB-2E0A0D83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432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4B"/>
          </a:solidFill>
          <a:ln xmlns:a="http://schemas.openxmlformats.org/drawingml/2006/main" w="0">
            <a:solidFill>
              <a:srgbClr val="C94B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E7A1AA-B0FC-4CC8-BE98-14FE73DE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24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B4B"/>
          </a:solidFill>
          <a:ln xmlns:a="http://schemas.openxmlformats.org/drawingml/2006/main" w="0">
            <a:solidFill>
              <a:srgbClr val="C94B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BC9480-F912-4D28-A453-69FE5E30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575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Fake documents and spoofed selfies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0280B4-D172-442E-951F-6C9F5DAD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33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B4B"/>
          </a:solidFill>
          <a:ln xmlns:a="http://schemas.openxmlformats.org/drawingml/2006/main" w="0">
            <a:solidFill>
              <a:srgbClr val="C94B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D5A679-F5C6-475D-AADD-3DF60B1E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671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Weak audit trail for verification decisions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6AAC84-BCF6-4D15-BFD4-C90064D7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43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B4B"/>
          </a:solidFill>
          <a:ln xmlns:a="http://schemas.openxmlformats.org/drawingml/2006/main" w="0">
            <a:solidFill>
              <a:srgbClr val="C94B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6CEFFF-FB64-4F43-986F-09AD912B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767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Hard to prove compliance readiness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3F9EBE-5260-4C4B-9B5F-5BF12BF7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704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DE5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43D003-A488-4076-8A9F-D200638A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619750"/>
            <a:ext cx="638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The result: teams either slow down good users or let more risk through.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40CE12-2C2C-4B06-B273-FE58F6D8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A0A5D0-F498-4D19-AD10-FBF5B4DE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Kyron eKYC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D49F8C-32D6-4132-8F5B-F7F6F910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Pain point</a:t>
            </a:r>
          </a:p>
        </p:txBody>
      </p:sp>
    </p:spTree>
    <p:extLst>
      <p:ext uri="{BB962C8B-B14F-4D97-AF65-F5344CB8AC3E}">
        <p14:creationId xmlns:p14="http://schemas.microsoft.com/office/powerpoint/2010/main" val="1966922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E9DC2A-735E-4B91-AA23-0A39D2A7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F6F8FC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58591bd5040bf"/>
          <a:stretch xmlns:a="http://schemas.openxmlformats.org/drawingml/2006/main"/>
        </p:blipFill>
        <p:spPr>
          <a:xfrm xmlns:a="http://schemas.openxmlformats.org/drawingml/2006/main">
            <a:off x="609600" y="344085"/>
            <a:ext cx="1104900" cy="10263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4F614-533B-48DC-BE17-B3BDD080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34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A6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22070-200E-4D0F-8519-7621D638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81025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A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A66A"/>
                </a:solidFill>
                <a:latin typeface="Aptos"/>
                <a:ea typeface="Aptos"/>
                <a:cs typeface="Aptos"/>
              </a:rPr>
              <a:t>The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DC056-9F41-4D5B-9ED2-058AF74F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81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Kyron verifies real users through one secure digital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A80D7-CA89-471D-AE2B-AAD3826F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Document proofing, liveness, face matching, fraud checks, and Face ID reuse work together to create a trusted onboarding journey.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654D8-2C77-4F06-8EDE-302B4178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57350"/>
            <a:ext cx="21717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ECCE2-2768-4669-8A8D-8824023A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0025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One journey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71F0D-3432-41B6-8919-01CE9BA6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2410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from signup to trusted return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2D627-B518-4234-80DE-89CDBED1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6A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7fdd8a6c047f7">
            <a:extLst>
              <a:ext uri="{96DAC541-7B7A-43D3-8B79-37D633B846F1}">
                <asvg:svgBlip xmlns:asvg="http://schemas.microsoft.com/office/drawing/2016/SVG/main" r:embed="Re60bebb2f67d4b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3084" y="415823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48B0D-F6CD-4265-9A6D-6971485D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7815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Document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88FDE-927C-4914-98CE-1EA89C49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81600"/>
            <a:ext cx="1790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Passport or Lao ID proofing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2A3A-06F2-4F51-A703-4032EA06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6720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F72E2-32C7-44CA-90B8-B2076DEF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81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A66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780c89642418d">
            <a:extLst>
              <a:ext uri="{96DAC541-7B7A-43D3-8B79-37D633B846F1}">
                <asvg:svgBlip xmlns:asvg="http://schemas.microsoft.com/office/drawing/2016/SVG/main" r:embed="R65a18ac4852943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86684" y="415823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C2E9B-92A4-4BFB-96D7-A95BF420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815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Liveness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64989-4465-483A-A36B-A10C011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181600"/>
            <a:ext cx="1790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Face actions and gesture challenge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B4B9B-7375-4C89-B678-B6D4D75A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6720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4ECA9-EA5E-4F90-889D-99A341A3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81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AA2A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e5b0646c541dc">
            <a:extLst>
              <a:ext uri="{96DAC541-7B7A-43D3-8B79-37D633B846F1}">
                <asvg:svgBlip xmlns:asvg="http://schemas.microsoft.com/office/drawing/2016/SVG/main" r:embed="Rab9f881edd4d49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20284" y="415823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1C0EA-3AE4-4312-A2E8-2AACE5FE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815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Face match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D2076A-0FD5-423A-8B68-97814E3D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81600"/>
            <a:ext cx="1790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Selfie matched to document portrait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FBBCC-A37C-4D33-A70C-93E61FED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4419A1-8282-4535-BE42-8F399640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81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2D6B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c7bde49fc4af7">
            <a:extLst>
              <a:ext uri="{96DAC541-7B7A-43D3-8B79-37D633B846F1}">
                <asvg:svgBlip xmlns:asvg="http://schemas.microsoft.com/office/drawing/2016/SVG/main" r:embed="Rf8dab075592346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53884" y="415823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317D7-CA7B-41D7-88DD-198B0C25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370301-9B30-4F75-9297-735A881B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81600"/>
            <a:ext cx="1790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Explainable pass, reject, and reason codes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14AEA2-2A1B-4AA5-AA2D-64ED32A0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6720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28EA49-1BEB-40B1-AF74-1AE824BA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81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B4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4b391e65348f4">
            <a:extLst>
              <a:ext uri="{96DAC541-7B7A-43D3-8B79-37D633B846F1}">
                <asvg:svgBlip xmlns:asvg="http://schemas.microsoft.com/office/drawing/2016/SVG/main" r:embed="Ra20bca22fe7444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87484" y="415823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D8D3BC-F920-4796-A119-FB5971EE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815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Face 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DA89FA-ACBB-405F-8626-5A108719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81600"/>
            <a:ext cx="1790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Reuse for login or payment approval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15EB00-130C-4B11-99B7-00F9D14D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A41759-8685-46C5-A3D6-D784E6B5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Kyron eKYC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C86068-4256-4988-8E53-88B7B7D3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2921926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88E428-54EE-4DEA-A93D-2490FEC9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5a42351e84331"/>
          <a:stretch xmlns:a="http://schemas.openxmlformats.org/drawingml/2006/main"/>
        </p:blipFill>
        <p:spPr>
          <a:xfrm xmlns:a="http://schemas.openxmlformats.org/drawingml/2006/main">
            <a:off x="630291" y="342900"/>
            <a:ext cx="1025419" cy="95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CFA86-EA24-4983-B638-CCA202FB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How the solution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2207C-230E-4931-817B-C706AC13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38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Kyron combines verification steps that answer three questions: is the document real, is the person live, and does the face match?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D0E45-923D-474E-ABF8-25CA2C72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343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25819-5D33-49EC-B9D8-9AF876DF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A5"/>
          </a:solidFill>
          <a:ln xmlns:a="http://schemas.openxmlformats.org/drawingml/2006/main" w="0">
            <a:solidFill>
              <a:srgbClr val="16A6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00B54-48F6-4840-A294-333D451F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1847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Document proofing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BBF05-F6E2-432A-8BC3-A9B44A6D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Checks OCR/MRZ fields, expiry, quality, tamper signs, and fraud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2EA29-52E5-4798-8F7B-632854CE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81300"/>
            <a:ext cx="2343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20210-5624-4352-8D57-B449F7CC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0480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solidFill>
              <a:srgbClr val="2FA6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EB62A-CCA9-4AAA-B653-AAF3ACA1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238500"/>
            <a:ext cx="1847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Liveness defense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26A68-EC8E-4BB3-AFD3-7D694ED0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84810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Uses face movement, hand gestures, and passive anti-spoof checks.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4C1AA-4227-4BA1-AA4C-8B6D3482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2343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F435A-4B89-4C4F-B505-FE63804B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A2A"/>
          </a:solidFill>
          <a:ln xmlns:a="http://schemas.openxmlformats.org/drawingml/2006/main" w="0">
            <a:solidFill>
              <a:srgbClr val="D9AA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C8F1A-EA2E-44EB-961D-41C1E7D2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1847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Face matching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0CF00-8A92-4883-9910-D07D3A80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4810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Compares the live selfie with the document portrait to confirm ownership.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F5D80-36FB-43F2-8BF6-8ED657EC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81300"/>
            <a:ext cx="2343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FDC42-BF34-4E4E-B753-0678EA5F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480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4B"/>
          </a:solidFill>
          <a:ln xmlns:a="http://schemas.openxmlformats.org/drawingml/2006/main" w="0">
            <a:solidFill>
              <a:srgbClr val="C94B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50C9C7-8A62-487E-9FE0-E47332BD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38500"/>
            <a:ext cx="1847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Decision + reuse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DC6C5D-5510-4974-8F2E-63D6D548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84810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Returns explainable results, then enables Face ID for future login or payment.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75CACC-ACAF-4B91-822F-1DC0D168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00650"/>
            <a:ext cx="876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DE5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805E5-B3FB-41F6-B625-E51FAD80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5305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Result: faster onboarding, stronger fraud protection, and a reusable trusted identity.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B9A32C-0416-4045-A2E9-54410762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76C711-38C3-451D-A91B-5AF6468F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Kyron eKYC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85FE03-16E5-4783-BD6C-DF5B73AD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323011037"/>
      </p:ext>
    </p:extLst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logo01"/>
          <a:stretch>
            <a:fillRect/>
          </a:stretch>
        </p:blipFill>
        <p:spPr>
          <a:xfrm>
            <a:off x="548640" y="457200"/>
            <a:ext cx="713232" cy="658368"/>
          </a:xfrm>
          <a:prstGeom prst="rect">
            <a:avLst/>
          </a:prstGeom>
        </p:spPr>
      </p:pic>
      <p:sp>
        <p:nvSpPr>
          <p:cNvPr id="3" name="tb"/>
          <p:cNvSpPr txBox="1"/>
          <p:nvPr/>
        </p:nvSpPr>
        <p:spPr>
          <a:xfrm>
            <a:off x="1417320" y="56692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spc="240" dirty="0">
                <a:solidFill>
                  <a:srgbClr val="D9AA2A"/>
                </a:solidFill>
                <a:latin typeface="Calibri"/>
              </a:rPr>
              <a:t>KYRON eKYC</a:t>
            </a:r>
          </a:p>
        </p:txBody>
      </p:sp>
      <p:sp>
        <p:nvSpPr>
          <p:cNvPr id="4" name="tb"/>
          <p:cNvSpPr txBox="1"/>
          <p:nvPr/>
        </p:nvSpPr>
        <p:spPr>
          <a:xfrm>
            <a:off x="548640" y="1783080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Calibri Light"/>
              </a:rPr>
              <a:t>Identity verification you can trust</a:t>
            </a:r>
          </a:p>
        </p:txBody>
      </p:sp>
      <p:sp>
        <p:nvSpPr>
          <p:cNvPr id="5" name="tb"/>
          <p:cNvSpPr txBox="1"/>
          <p:nvPr/>
        </p:nvSpPr>
        <p:spPr>
          <a:xfrm>
            <a:off x="566928" y="31546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600" dirty="0">
                <a:solidFill>
                  <a:srgbClr val="DDE5F2"/>
                </a:solidFill>
                <a:latin typeface="Calibri"/>
              </a:rPr>
              <a:t>From signup to trusted return — secure digital KYC in one flow.</a:t>
            </a:r>
          </a:p>
        </p:txBody>
      </p:sp>
      <p:sp>
        <p:nvSpPr>
          <p:cNvPr id="6" name="rect"/>
          <p:cNvSpPr/>
          <p:nvPr/>
        </p:nvSpPr>
        <p:spPr>
          <a:xfrm>
            <a:off x="548640" y="416052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0B2D6B"/>
          </a:solidFill>
          <a:ln w="9525">
            <a:solidFill>
              <a:srgbClr val="1B3A78"/>
            </a:solidFill>
          </a:ln>
        </p:spPr>
        <p:txBody>
          <a:bodyPr/>
          <a:lstStyle/>
          <a:p/>
        </p:txBody>
      </p:sp>
      <p:sp>
        <p:nvSpPr>
          <p:cNvPr id="7" name="tb"/>
          <p:cNvSpPr txBox="1"/>
          <p:nvPr/>
        </p:nvSpPr>
        <p:spPr>
          <a:xfrm>
            <a:off x="868680" y="44348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dirty="0">
                <a:solidFill>
                  <a:srgbClr val="D9AA2A"/>
                </a:solidFill>
                <a:latin typeface="Calibri Light"/>
              </a:rPr>
              <a:t>01</a:t>
            </a:r>
          </a:p>
        </p:txBody>
      </p:sp>
      <p:sp>
        <p:nvSpPr>
          <p:cNvPr id="8" name="tb"/>
          <p:cNvSpPr txBox="1"/>
          <p:nvPr/>
        </p:nvSpPr>
        <p:spPr>
          <a:xfrm>
            <a:off x="868680" y="500176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Calibri"/>
              </a:rPr>
              <a:t>Pain point</a:t>
            </a:r>
          </a:p>
        </p:txBody>
      </p:sp>
      <p:sp>
        <p:nvSpPr>
          <p:cNvPr id="9" name="tb"/>
          <p:cNvSpPr txBox="1"/>
          <p:nvPr/>
        </p:nvSpPr>
        <p:spPr>
          <a:xfrm>
            <a:off x="868680" y="536752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en-US" sz="1100" dirty="0">
                <a:solidFill>
                  <a:srgbClr val="DDE5F2"/>
                </a:solidFill>
                <a:latin typeface="Calibri"/>
              </a:rPr>
              <a:t>Speed, trust, and proof pull against each other.</a:t>
            </a:r>
          </a:p>
        </p:txBody>
      </p:sp>
      <p:sp>
        <p:nvSpPr>
          <p:cNvPr id="10" name="rect"/>
          <p:cNvSpPr/>
          <p:nvPr/>
        </p:nvSpPr>
        <p:spPr>
          <a:xfrm>
            <a:off x="4343400" y="416052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0B2D6B"/>
          </a:solidFill>
          <a:ln w="9525">
            <a:solidFill>
              <a:srgbClr val="1B3A78"/>
            </a:solidFill>
          </a:ln>
        </p:spPr>
        <p:txBody>
          <a:bodyPr/>
          <a:lstStyle/>
          <a:p/>
        </p:txBody>
      </p:sp>
      <p:sp>
        <p:nvSpPr>
          <p:cNvPr id="11" name="tb"/>
          <p:cNvSpPr txBox="1"/>
          <p:nvPr/>
        </p:nvSpPr>
        <p:spPr>
          <a:xfrm>
            <a:off x="4663440" y="44348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dirty="0">
                <a:solidFill>
                  <a:srgbClr val="D9AA2A"/>
                </a:solidFill>
                <a:latin typeface="Calibri Light"/>
              </a:rPr>
              <a:t>02</a:t>
            </a:r>
          </a:p>
        </p:txBody>
      </p:sp>
      <p:sp>
        <p:nvSpPr>
          <p:cNvPr id="12" name="tb"/>
          <p:cNvSpPr txBox="1"/>
          <p:nvPr/>
        </p:nvSpPr>
        <p:spPr>
          <a:xfrm>
            <a:off x="4663440" y="500176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3" name="tb"/>
          <p:cNvSpPr txBox="1"/>
          <p:nvPr/>
        </p:nvSpPr>
        <p:spPr>
          <a:xfrm>
            <a:off x="4663440" y="536752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en-US" sz="1100" dirty="0">
                <a:solidFill>
                  <a:srgbClr val="DDE5F2"/>
                </a:solidFill>
                <a:latin typeface="Calibri"/>
              </a:rPr>
              <a:t>One secure flow: document, liveness, face match.</a:t>
            </a:r>
          </a:p>
        </p:txBody>
      </p:sp>
      <p:sp>
        <p:nvSpPr>
          <p:cNvPr id="14" name="rect"/>
          <p:cNvSpPr/>
          <p:nvPr/>
        </p:nvSpPr>
        <p:spPr>
          <a:xfrm>
            <a:off x="8138160" y="416052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0B2D6B"/>
          </a:solidFill>
          <a:ln w="9525">
            <a:solidFill>
              <a:srgbClr val="D9AA2A"/>
            </a:solidFill>
          </a:ln>
        </p:spPr>
        <p:txBody>
          <a:bodyPr/>
          <a:lstStyle/>
          <a:p/>
        </p:txBody>
      </p:sp>
      <p:sp>
        <p:nvSpPr>
          <p:cNvPr id="15" name="tb"/>
          <p:cNvSpPr txBox="1"/>
          <p:nvPr/>
        </p:nvSpPr>
        <p:spPr>
          <a:xfrm>
            <a:off x="8458200" y="44348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dirty="0">
                <a:solidFill>
                  <a:srgbClr val="D9AA2A"/>
                </a:solidFill>
                <a:latin typeface="Calibri Light"/>
              </a:rPr>
              <a:t>03</a:t>
            </a:r>
          </a:p>
        </p:txBody>
      </p:sp>
      <p:sp>
        <p:nvSpPr>
          <p:cNvPr id="16" name="tb"/>
          <p:cNvSpPr txBox="1"/>
          <p:nvPr/>
        </p:nvSpPr>
        <p:spPr>
          <a:xfrm>
            <a:off x="8458200" y="500176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17" name="tb"/>
          <p:cNvSpPr txBox="1"/>
          <p:nvPr/>
        </p:nvSpPr>
        <p:spPr>
          <a:xfrm>
            <a:off x="8458200" y="536752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en-US" sz="1100" dirty="0">
                <a:solidFill>
                  <a:srgbClr val="DDE5F2"/>
                </a:solidFill>
                <a:latin typeface="Calibri"/>
              </a:rPr>
              <a:t>Validated accuracy across document &amp; liveness.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100" b="1" spc="240" dirty="0">
                <a:solidFill>
                  <a:srgbClr val="D9AA2A"/>
                </a:solidFill>
                <a:latin typeface="Calibri"/>
              </a:rPr>
              <a:t>KYRON eKYC</a:t>
            </a:r>
          </a:p>
        </p:txBody>
      </p:sp>
      <p:sp>
        <p:nvSpPr>
          <p:cNvPr id="3" name="tb"/>
          <p:cNvSpPr txBox="1"/>
          <p:nvPr/>
        </p:nvSpPr>
        <p:spPr>
          <a:xfrm>
            <a:off x="548640" y="84124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3200" b="1" dirty="0">
                <a:solidFill>
                  <a:srgbClr val="071B4A"/>
                </a:solidFill>
                <a:latin typeface="Calibri Light"/>
              </a:rPr>
              <a:t>Results &amp; validation</a:t>
            </a:r>
          </a:p>
        </p:txBody>
      </p:sp>
      <p:sp>
        <p:nvSpPr>
          <p:cNvPr id="4" name="tb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dirty="0">
                <a:solidFill>
                  <a:srgbClr val="475569"/>
                </a:solidFill>
                <a:latin typeface="Calibri"/>
              </a:rPr>
              <a:t>Measured on a balanced validation set of ~10,000 labelled images per category (genuine vs. attack).</a:t>
            </a:r>
          </a:p>
        </p:txBody>
      </p:sp>
      <p:sp>
        <p:nvSpPr>
          <p:cNvPr id="5" name="rect"/>
          <p:cNvSpPr/>
          <p:nvPr/>
        </p:nvSpPr>
        <p:spPr>
          <a:xfrm>
            <a:off x="548640" y="2286000"/>
            <a:ext cx="5303520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5F2"/>
            </a:solidFill>
          </a:ln>
        </p:spPr>
        <p:txBody>
          <a:bodyPr/>
          <a:lstStyle/>
          <a:p/>
        </p:txBody>
      </p:sp>
      <p:sp>
        <p:nvSpPr>
          <p:cNvPr id="6" name="rect"/>
          <p:cNvSpPr/>
          <p:nvPr/>
        </p:nvSpPr>
        <p:spPr>
          <a:xfrm>
            <a:off x="548640" y="2286000"/>
            <a:ext cx="5303520" cy="82296"/>
          </a:xfrm>
          <a:prstGeom prst="rect">
            <a:avLst/>
          </a:prstGeom>
          <a:solidFill>
            <a:srgbClr val="D9AA2A"/>
          </a:solidFill>
        </p:spPr>
        <p:txBody>
          <a:bodyPr/>
          <a:lstStyle/>
          <a:p/>
        </p:txBody>
      </p:sp>
      <p:sp>
        <p:nvSpPr>
          <p:cNvPr id="7" name="tb"/>
          <p:cNvSpPr txBox="1"/>
          <p:nvPr/>
        </p:nvSpPr>
        <p:spPr>
          <a:xfrm>
            <a:off x="960120" y="263347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dirty="0">
                <a:solidFill>
                  <a:srgbClr val="071B4A"/>
                </a:solidFill>
                <a:latin typeface="Calibri"/>
              </a:rPr>
              <a:t>Document upload</a:t>
            </a:r>
          </a:p>
        </p:txBody>
      </p:sp>
      <p:sp>
        <p:nvSpPr>
          <p:cNvPr id="8" name="tb"/>
          <p:cNvSpPr txBox="1"/>
          <p:nvPr/>
        </p:nvSpPr>
        <p:spPr>
          <a:xfrm>
            <a:off x="960120" y="315468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7280"/>
                </a:solidFill>
                <a:latin typeface="Calibri"/>
              </a:rPr>
              <a:t>OCR + TD3 MRZ validation, quality &amp; tamper checks</a:t>
            </a:r>
          </a:p>
        </p:txBody>
      </p:sp>
      <p:sp>
        <p:nvSpPr>
          <p:cNvPr id="9" name="tb"/>
          <p:cNvSpPr txBox="1"/>
          <p:nvPr/>
        </p:nvSpPr>
        <p:spPr>
          <a:xfrm>
            <a:off x="822960" y="370332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6600" b="1" dirty="0">
                <a:solidFill>
                  <a:srgbClr val="071B4A"/>
                </a:solidFill>
                <a:latin typeface="Calibri Light"/>
              </a:rPr>
              <a:t>95.7</a:t>
            </a:r>
            <a:r>
              <a:rPr lang="en-US" sz="3200" b="1" dirty="0">
                <a:solidFill>
                  <a:srgbClr val="D9AA2A"/>
                </a:solidFill>
                <a:latin typeface="Calibri Light"/>
              </a:rPr>
              <a:t>%</a:t>
            </a:r>
          </a:p>
        </p:txBody>
      </p:sp>
      <p:sp>
        <p:nvSpPr>
          <p:cNvPr id="10" name="tb"/>
          <p:cNvSpPr txBox="1"/>
          <p:nvPr/>
        </p:nvSpPr>
        <p:spPr>
          <a:xfrm>
            <a:off x="822960" y="48006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600" b="1" dirty="0">
                <a:solidFill>
                  <a:srgbClr val="0B2D6B"/>
                </a:solidFill>
                <a:latin typeface="Calibri"/>
              </a:rPr>
              <a:t>Document verification accuracy</a:t>
            </a:r>
          </a:p>
        </p:txBody>
      </p:sp>
      <p:sp>
        <p:nvSpPr>
          <p:cNvPr id="11" name="tb"/>
          <p:cNvSpPr txBox="1"/>
          <p:nvPr/>
        </p:nvSpPr>
        <p:spPr>
          <a:xfrm>
            <a:off x="1097280" y="516636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B7280"/>
                </a:solidFill>
                <a:latin typeface="Calibri"/>
              </a:rPr>
              <a:t>10,000 labelled passport &amp; ID images — genuine documents read, forgeries &amp; print / screen copies rejected.</a:t>
            </a:r>
          </a:p>
        </p:txBody>
      </p:sp>
      <p:sp>
        <p:nvSpPr>
          <p:cNvPr id="12" name="rect"/>
          <p:cNvSpPr/>
          <p:nvPr/>
        </p:nvSpPr>
        <p:spPr>
          <a:xfrm>
            <a:off x="6309360" y="2286000"/>
            <a:ext cx="5303520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5F2"/>
            </a:solidFill>
          </a:ln>
        </p:spPr>
        <p:txBody>
          <a:bodyPr/>
          <a:lstStyle/>
          <a:p/>
        </p:txBody>
      </p:sp>
      <p:sp>
        <p:nvSpPr>
          <p:cNvPr id="13" name="rect"/>
          <p:cNvSpPr/>
          <p:nvPr/>
        </p:nvSpPr>
        <p:spPr>
          <a:xfrm>
            <a:off x="6309360" y="2286000"/>
            <a:ext cx="5303520" cy="82296"/>
          </a:xfrm>
          <a:prstGeom prst="rect">
            <a:avLst/>
          </a:prstGeom>
          <a:solidFill>
            <a:srgbClr val="D9AA2A"/>
          </a:solidFill>
        </p:spPr>
        <p:txBody>
          <a:bodyPr/>
          <a:lstStyle/>
          <a:p/>
        </p:txBody>
      </p:sp>
      <p:sp>
        <p:nvSpPr>
          <p:cNvPr id="14" name="tb"/>
          <p:cNvSpPr txBox="1"/>
          <p:nvPr/>
        </p:nvSpPr>
        <p:spPr>
          <a:xfrm>
            <a:off x="6720840" y="263347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dirty="0">
                <a:solidFill>
                  <a:srgbClr val="071B4A"/>
                </a:solidFill>
                <a:latin typeface="Calibri"/>
              </a:rPr>
              <a:t>Face liveness (anti-spoof)</a:t>
            </a:r>
          </a:p>
        </p:txBody>
      </p:sp>
      <p:sp>
        <p:nvSpPr>
          <p:cNvPr id="15" name="tb"/>
          <p:cNvSpPr txBox="1"/>
          <p:nvPr/>
        </p:nvSpPr>
        <p:spPr>
          <a:xfrm>
            <a:off x="6720840" y="315468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7280"/>
                </a:solidFill>
                <a:latin typeface="Calibri"/>
              </a:rPr>
              <a:t>PAD model + face-size gate + replay heuristics</a:t>
            </a:r>
          </a:p>
        </p:txBody>
      </p:sp>
      <p:sp>
        <p:nvSpPr>
          <p:cNvPr id="16" name="tb"/>
          <p:cNvSpPr txBox="1"/>
          <p:nvPr/>
        </p:nvSpPr>
        <p:spPr>
          <a:xfrm>
            <a:off x="6583680" y="370332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6600" b="1" dirty="0">
                <a:solidFill>
                  <a:srgbClr val="071B4A"/>
                </a:solidFill>
                <a:latin typeface="Calibri Light"/>
              </a:rPr>
              <a:t>96.4</a:t>
            </a:r>
            <a:r>
              <a:rPr lang="en-US" sz="3200" b="1" dirty="0">
                <a:solidFill>
                  <a:srgbClr val="D9AA2A"/>
                </a:solidFill>
                <a:latin typeface="Calibri Light"/>
              </a:rPr>
              <a:t>%</a:t>
            </a:r>
          </a:p>
        </p:txBody>
      </p:sp>
      <p:sp>
        <p:nvSpPr>
          <p:cNvPr id="17" name="tb"/>
          <p:cNvSpPr txBox="1"/>
          <p:nvPr/>
        </p:nvSpPr>
        <p:spPr>
          <a:xfrm>
            <a:off x="6583680" y="48006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600" b="1" dirty="0">
                <a:solidFill>
                  <a:srgbClr val="0B2D6B"/>
                </a:solidFill>
                <a:latin typeface="Calibri"/>
              </a:rPr>
              <a:t>Liveness detection accuracy</a:t>
            </a:r>
          </a:p>
        </p:txBody>
      </p:sp>
      <p:sp>
        <p:nvSpPr>
          <p:cNvPr id="18" name="tb"/>
          <p:cNvSpPr txBox="1"/>
          <p:nvPr/>
        </p:nvSpPr>
        <p:spPr>
          <a:xfrm>
            <a:off x="6858000" y="516636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B7280"/>
                </a:solidFill>
                <a:latin typeface="Calibri"/>
              </a:rPr>
              <a:t>10,000 bursts — real faces accepted; printed-photo, screen-replay &amp; video attacks rejected.</a:t>
            </a:r>
          </a:p>
        </p:txBody>
      </p:sp>
      <p:sp>
        <p:nvSpPr>
          <p:cNvPr id="19" name="tb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Methodology: accuracy reported as detection / pass rate. Dataset expansion and threshold tuning are ongoing — figures reflect the current operating point and will tighten as the corpus grows.</a:t>
            </a:r>
          </a:p>
        </p:txBody>
      </p:sp>
    </p:spTree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2026-06-12T06:59:11.3980000Z</dcterms:created>
  <dcterms:modified xsi:type="dcterms:W3CDTF">2026-06-12T06:59:11.3980000Z</dcterms:modified>
</coreProperties>
</file>